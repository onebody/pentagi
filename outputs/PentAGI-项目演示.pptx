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00" b="1">
                <a:solidFill>
                  <a:srgbClr val="3BD48A"/>
                </a:solidFill>
                <a:latin typeface="Courier New"/>
                <a:ea typeface="PingFang SC"/>
              </a:rPr>
              <a:t>SELF-HOSTED  ·  AI  PENETRATION TESTING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4241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100" b="0">
                <a:solidFill>
                  <a:srgbClr val="A8C6DA"/>
                </a:solidFill>
                <a:latin typeface="Arial"/>
                <a:ea typeface="PingFang SC"/>
              </a:rPr>
              <a:t>自主渗透测试多 Agent 平台 —— 架构、能力与交付现状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4846320" cy="105156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400" b="0">
                <a:solidFill>
                  <a:srgbClr val="3BD48A"/>
                </a:solidFill>
                <a:latin typeface="Courier New"/>
                <a:ea typeface="PingFang SC"/>
              </a:rPr>
              <a:t>$ docker compose up -d</a:t>
            </a:r>
          </a:p>
          <a:p>
            <a:pPr algn="l"/>
            <a:r>
              <a:rPr sz="1400" b="0">
                <a:solidFill>
                  <a:srgbClr val="3BD48A"/>
                </a:solidFill>
                <a:latin typeface="Courier New"/>
                <a:ea typeface="PingFang SC"/>
              </a:rPr>
              <a:t>$ open https://localhost:8443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4069080"/>
            <a:ext cx="5349240" cy="1051560"/>
          </a:xfrm>
          <a:prstGeom prst="rect">
            <a:avLst/>
          </a:prstGeom>
          <a:noFill/>
          <a:ln w="9525">
            <a:solidFill>
              <a:srgbClr val="A8C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4279392"/>
            <a:ext cx="4937760" cy="7772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300" b="0">
                <a:solidFill>
                  <a:srgbClr val="A8C6DA"/>
                </a:solidFill>
                <a:latin typeface="Courier New"/>
                <a:ea typeface="PingFang SC"/>
              </a:rPr>
              <a:t>上游  github.com/vxcontrol/pentagi   (MIT)</a:t>
            </a:r>
          </a:p>
          <a:p>
            <a:pPr algn="l"/>
            <a:r>
              <a:rPr sz="1300" b="0">
                <a:solidFill>
                  <a:srgbClr val="A8C6DA"/>
                </a:solidFill>
                <a:latin typeface="Courier New"/>
                <a:ea typeface="PingFang SC"/>
              </a:rPr>
              <a:t>镜像  github.com/onebody/pentagi     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A8C6DA"/>
                </a:solidFill>
                <a:latin typeface="Arial"/>
                <a:ea typeface="PingFang SC"/>
              </a:rPr>
              <a:t>2026-10-14  ·  基于仓库快照与 docs/01–03 中文文档整理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SYSTEM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它解决什么问题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600" b="0">
                <a:solidFill>
                  <a:srgbClr val="667684"/>
                </a:solidFill>
                <a:latin typeface="Arial"/>
                <a:ea typeface="PingFang SC"/>
              </a:rPr>
              <a:t>把一次渗透测试委托给 AI：平台负责编排模型、工具、沙箱与证据留存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5440680" cy="1874519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50008"/>
            <a:ext cx="82296" cy="1655063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532888"/>
            <a:ext cx="384048" cy="38404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9464"/>
            <a:ext cx="384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32888"/>
            <a:ext cx="43891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0E2233"/>
                </a:solidFill>
                <a:latin typeface="Arial"/>
                <a:ea typeface="PingFang SC"/>
              </a:rPr>
              <a:t>Flow 为中心的任务单元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08960"/>
            <a:ext cx="4389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目标、上下文、执行过程、产物与报告收进同一个容器，可复盘可追溯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2240280"/>
            <a:ext cx="5440680" cy="1874519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2350008"/>
            <a:ext cx="82296" cy="1655063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2532888"/>
            <a:ext cx="384048" cy="38404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569464"/>
            <a:ext cx="384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532888"/>
            <a:ext cx="43891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0E2233"/>
                </a:solidFill>
                <a:latin typeface="Arial"/>
                <a:ea typeface="PingFang SC"/>
              </a:rPr>
              <a:t>多 Agent + 多工具编排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08960"/>
            <a:ext cx="4389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Pentester / Coder / Searcher 等角色轮转，调用终端、浏览器、搜索、向量库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34840"/>
            <a:ext cx="5440680" cy="1874519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544568"/>
            <a:ext cx="82296" cy="1655063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384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27448"/>
            <a:ext cx="43891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0E2233"/>
                </a:solidFill>
                <a:latin typeface="Arial"/>
                <a:ea typeface="PingFang SC"/>
              </a:rPr>
              <a:t>Docker 沙箱执行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03520"/>
            <a:ext cx="4389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命令与工具在 Flow 专属任务容器内运行，宿主环境隔离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9088" y="4434840"/>
            <a:ext cx="5440680" cy="1874519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19088" y="4544568"/>
            <a:ext cx="82296" cy="1655063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4727448"/>
            <a:ext cx="384048" cy="38404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764024"/>
            <a:ext cx="384048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27448"/>
            <a:ext cx="43891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0E2233"/>
                </a:solidFill>
                <a:latin typeface="Arial"/>
                <a:ea typeface="PingFang SC"/>
              </a:rPr>
              <a:t>统一控制面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303520"/>
            <a:ext cx="43891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Web UI + REST + GraphQL(WS)，管理 Flow / 模板 / Provider / 提示词 / 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仓库与代码规模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440680" cy="18288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48920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4400" b="1">
                <a:solidFill>
                  <a:srgbClr val="0E2233"/>
                </a:solidFill>
                <a:latin typeface="Arial"/>
                <a:ea typeface="PingFang SC"/>
              </a:rPr>
              <a:t>25.6 万行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17520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400" b="0">
                <a:solidFill>
                  <a:srgbClr val="667684"/>
                </a:solidFill>
                <a:latin typeface="Arial"/>
                <a:ea typeface="PingFang SC"/>
              </a:rPr>
              <a:t>后端 Go  ·  518 个 .go 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088" y="1783080"/>
            <a:ext cx="5440680" cy="18288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039112"/>
            <a:ext cx="48920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4400" b="1">
                <a:solidFill>
                  <a:srgbClr val="0E2233"/>
                </a:solidFill>
                <a:latin typeface="Arial"/>
                <a:ea typeface="PingFang SC"/>
              </a:rPr>
              <a:t>3.5 万行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017520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400" b="0">
                <a:solidFill>
                  <a:srgbClr val="667684"/>
                </a:solidFill>
                <a:latin typeface="Arial"/>
                <a:ea typeface="PingFang SC"/>
              </a:rPr>
              <a:t>前端 TS/TSX  ·  157 个源文件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77639"/>
            <a:ext cx="5440680" cy="18288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233672"/>
            <a:ext cx="48920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4400" b="1">
                <a:solidFill>
                  <a:srgbClr val="0E2233"/>
                </a:solidFill>
                <a:latin typeface="Arial"/>
                <a:ea typeface="PingFang SC"/>
              </a:rPr>
              <a:t>71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5212079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400" b="0">
                <a:solidFill>
                  <a:srgbClr val="667684"/>
                </a:solidFill>
                <a:latin typeface="Arial"/>
                <a:ea typeface="PingFang SC"/>
              </a:rPr>
              <a:t>仓库体积 · 含 54 MB jaeger-clickhouse 二进制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3977639"/>
            <a:ext cx="5440680" cy="182880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233672"/>
            <a:ext cx="48920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4400" b="1">
                <a:solidFill>
                  <a:srgbClr val="0E2233"/>
                </a:solidFill>
                <a:latin typeface="Arial"/>
                <a:ea typeface="PingFang SC"/>
              </a:rPr>
              <a:t>14 / 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5212079"/>
            <a:ext cx="48920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400" b="0">
                <a:solidFill>
                  <a:srgbClr val="667684"/>
                </a:solidFill>
                <a:latin typeface="Arial"/>
                <a:ea typeface="PingFang SC"/>
              </a:rPr>
              <a:t>Provider 配置模板 / 同题横评报告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42432"/>
            <a:ext cx="11018520" cy="566928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16202A"/>
                </a:solidFill>
                <a:latin typeface="Arial"/>
                <a:ea typeface="PingFang SC"/>
              </a:rPr>
              <a:t>另有 4 套 Compose 编排栈、622 行中文文档（docs/01–03）与 4 份 backend/docs 二开专题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五层架构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2148840" cy="786384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47672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接入层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1691640"/>
            <a:ext cx="8732520" cy="78638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837944"/>
            <a:ext cx="8275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React + TS + Vite + Apollo SPA   ·   Gin REST /api/v1   ·   gqlgen GraphQL + WS subscriptions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06040"/>
            <a:ext cx="2148840" cy="786384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862072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编排层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2606040"/>
            <a:ext cx="8732520" cy="78638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752344"/>
            <a:ext cx="8275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FlowController → FlowWorker → Task / SubTask 状态机，驱动多 Agent 轮转与工具调用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20440"/>
            <a:ext cx="2148840" cy="786384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776472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能力层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2928" y="3520440"/>
            <a:ext cx="8732520" cy="78638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3666744"/>
            <a:ext cx="8275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工具执行器：Terminal   Scraper 浏览器   Web Search   Vector Store   Graphiti 知识图谱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34840"/>
            <a:ext cx="2148840" cy="786384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690872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模型层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4434840"/>
            <a:ext cx="8732520" cy="78638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4581144"/>
            <a:ext cx="8275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Provider 适配包：openai · anthropic · gemini · bedrock · ollama · qwen · glm · kimi · deepseek · custom + embeddings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49240"/>
            <a:ext cx="2148840" cy="786384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605272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数据与观测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52928" y="5349240"/>
            <a:ext cx="8732520" cy="78638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5495544"/>
            <a:ext cx="82753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PostgreSQL + pgvector（goose 迁移 / sqlc）· 截图与产物存储 · 可选 Langfuse / Grafana+Loki+Jaeger / Neo4j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6281927"/>
            <a:ext cx="11018520" cy="658368"/>
          </a:xfrm>
          <a:prstGeom prst="round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6464807"/>
            <a:ext cx="105156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3BD48A"/>
                </a:solidFill>
                <a:latin typeface="Arial"/>
                <a:ea typeface="PingFang SC"/>
              </a:rPr>
              <a:t>执行底座：后端通过 Docker client 为每个 Flow 创建沙箱容器，所有命令在容器内执行并回传日志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RUNTIME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一次 Flow 的执行链路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创建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绑定目标、语言、模板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1168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Arial"/>
                <a:ea typeface="PingFang SC"/>
              </a:rPr>
              <a:t>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8024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装配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加载 Provider 与工具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4" y="201168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Arial"/>
                <a:ea typeface="PingFang SC"/>
              </a:rPr>
              <a:t>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下发指令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范围 / 禁止动作 / 输出要求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01168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Arial"/>
                <a:ea typeface="PingFang SC"/>
              </a:rP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Agent 推理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规划 Task 与 SubTask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201168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Arial"/>
                <a:ea typeface="PingFang SC"/>
              </a:rPr>
              <a:t>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8703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3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8703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1855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沙箱执行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终端、浏览器、搜索调用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37776" y="201168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Arial"/>
                <a:ea typeface="PingFang SC"/>
              </a:rPr>
              <a:t>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56647" y="1965960"/>
            <a:ext cx="1737360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7" y="2084831"/>
            <a:ext cx="1737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3BD48A"/>
                </a:solidFill>
                <a:latin typeface="Courier New"/>
                <a:ea typeface="PingFang SC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56647" y="2606040"/>
            <a:ext cx="1737360" cy="1371600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799" y="2743200"/>
            <a:ext cx="1591056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证据与报告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6375" y="3218688"/>
            <a:ext cx="1517904" cy="6858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67684"/>
                </a:solidFill>
                <a:latin typeface="Arial"/>
                <a:ea typeface="PingFang SC"/>
              </a:rPr>
              <a:t>日志 / 截图 / 报告落库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315968"/>
            <a:ext cx="11018520" cy="713232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4553712"/>
            <a:ext cx="1046988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全程通过 GraphQL subscriptions 实时推送：助手/自动化消息、工具调用日志、终端输出、截图与向量库读写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349240"/>
            <a:ext cx="110185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0">
                <a:solidFill>
                  <a:srgbClr val="667684"/>
                </a:solidFill>
                <a:latin typeface="Arial"/>
                <a:ea typeface="PingFang SC"/>
              </a:rPr>
              <a:t>对象模型：Flow → Task → SubTask，Container 承载执行环境，Logs / Screenshot / Prompt / Template 构成审计面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AGENT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Agent 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5257800" cy="1298448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82296" cy="1078992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6634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0E2233"/>
                </a:solidFill>
                <a:latin typeface="Courier New"/>
                <a:ea typeface="PingFang SC"/>
              </a:rPr>
              <a:t>Pentester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663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核心执行角色：规划攻击面、下达并验证动作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18688"/>
            <a:ext cx="5257800" cy="1298448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328416"/>
            <a:ext cx="82296" cy="1078992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46634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0E2233"/>
                </a:solidFill>
                <a:latin typeface="Courier New"/>
                <a:ea typeface="PingFang SC"/>
              </a:rPr>
              <a:t>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77056"/>
            <a:ext cx="4663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生成脚本 / Payload / 工具代码并写入容器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00016"/>
            <a:ext cx="5257800" cy="1298448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809744"/>
            <a:ext cx="82296" cy="1078992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882896"/>
            <a:ext cx="46634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0E2233"/>
                </a:solidFill>
                <a:latin typeface="Courier New"/>
                <a:ea typeface="PingFang SC"/>
              </a:rPr>
              <a:t>Searcher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58384"/>
            <a:ext cx="4663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Web 搜索与知识检索，补齐上下文与证据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3328" y="1737360"/>
            <a:ext cx="5532120" cy="4078224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20240"/>
            <a:ext cx="50292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500" b="1">
                <a:solidFill>
                  <a:srgbClr val="0E2233"/>
                </a:solidFill>
                <a:latin typeface="Arial"/>
                <a:ea typeface="PingFang SC"/>
              </a:rPr>
              <a:t>同一框架内的其他 AgentType（源码节选）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87168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595372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Assistant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2487168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1856" y="2595372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Reflector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4352" y="2487168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74352" y="2595372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Reporter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072384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80588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Adviser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3072384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3180588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Memorist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74352" y="3072384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3180588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Enricher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657600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65804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Summarizer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3657600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1856" y="3765804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Refiner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74352" y="3657600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3765804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Generator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242816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351020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ToolCallFixer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1856" y="4242816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1856" y="4351020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Installer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74352" y="4242816"/>
            <a:ext cx="1572768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74352" y="4351020"/>
            <a:ext cx="1572768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16202A"/>
                </a:solidFill>
                <a:latin typeface="Courier New"/>
                <a:ea typeface="PingFang SC"/>
              </a:rPr>
              <a:t>UsageStats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50292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667684"/>
                </a:solidFill>
                <a:latin typeface="Arial"/>
                <a:ea typeface="PingFang SC"/>
              </a:rPr>
              <a:t>CLAUDE.md 对外把这套角色简化表述为 Researcher / Developer / Executor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LLM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模型 Provider 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10207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custom-openai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1783080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910207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deepinfra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1910207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deepseek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783080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910207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moonshot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41448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568575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novita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4136" y="2441448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568575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16202A"/>
                </a:solidFill>
                <a:latin typeface="Courier New"/>
                <a:ea typeface="PingFang SC"/>
              </a:rPr>
              <a:t>openrouter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441448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2581338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ollama-cloud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2441448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581338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ollama-llama318b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99816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239706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ollama-llama318b-instruct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74136" y="3099816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3239706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ollama-qwen332b-fp16-tc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099816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3239706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ollama-qwq32b-fp16-tc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3099816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3239706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vllm-qwen3.5-27b-fp8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758184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898074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vllm-qwen3.5-27b-fp8-no-think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4136" y="3758184"/>
            <a:ext cx="2606040" cy="512064"/>
          </a:xfrm>
          <a:prstGeom prst="roundRect">
            <a:avLst/>
          </a:prstGeom>
          <a:solidFill>
            <a:srgbClr val="F2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74136" y="3898074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150" b="0">
                <a:solidFill>
                  <a:srgbClr val="16202A"/>
                </a:solidFill>
                <a:latin typeface="Courier New"/>
                <a:ea typeface="PingFang SC"/>
              </a:rPr>
              <a:t>vllm-qwen332b-fp16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3758184"/>
            <a:ext cx="2606040" cy="512064"/>
          </a:xfrm>
          <a:prstGeom prst="round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1344" y="3885311"/>
            <a:ext cx="2606040" cy="51206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  <a:ea typeface="PingFang SC"/>
              </a:rPr>
              <a:t>共 14 份模板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526280"/>
            <a:ext cx="11018520" cy="1600200"/>
          </a:xfrm>
          <a:prstGeom prst="round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773168"/>
            <a:ext cx="10424160" cy="118872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  <a:ea typeface="PingFang SC"/>
              </a:rPr>
              <a:t>代码内置 10 类适配包 + embeddings；OpenRouter / Novita / DeepInfra / vLLM 走 OpenAI 兼容 custom 路径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  <a:ea typeface="PingFang SC"/>
              </a:rPr>
              <a:t>examples/tests 有 19 份同题横评报告（base_web_pentest），可直接对比换模型对渗透效果的影响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  <a:ea typeface="PingFang SC"/>
              </a:rPr>
              <a:t>examples/guides 另附 vLLM-Qwen3.5-27B 与 worker node 两份私有化部署指南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部署形态与运行基线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5806440" cy="932688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65376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0E2233"/>
                </a:solidFill>
                <a:latin typeface="Courier New"/>
                <a:ea typeface="PingFang SC"/>
              </a:rPr>
              <a:t>docker-compose.yml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50" b="0">
                <a:solidFill>
                  <a:srgbClr val="667684"/>
                </a:solidFill>
                <a:latin typeface="Arial"/>
                <a:ea typeface="PingFang SC"/>
              </a:rPr>
              <a:t>pentagi · pgvector · pgexporter · scraper（必需）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5806440" cy="932688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44368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0E2233"/>
                </a:solidFill>
                <a:latin typeface="Courier New"/>
                <a:ea typeface="PingFang SC"/>
              </a:rPr>
              <a:t>+ docker-compose-observability.yml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50" b="0">
                <a:solidFill>
                  <a:srgbClr val="667684"/>
                </a:solidFill>
                <a:latin typeface="Arial"/>
                <a:ea typeface="PingFang SC"/>
              </a:rPr>
              <a:t>Grafana · OTel · Loki · Jaeger-ClickHouse · VictoriaMetrics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95344"/>
            <a:ext cx="5806440" cy="932688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23359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0E2233"/>
                </a:solidFill>
                <a:latin typeface="Courier New"/>
                <a:ea typeface="PingFang SC"/>
              </a:rPr>
              <a:t>+ docker-compose-langfuse.yml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98264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50" b="0">
                <a:solidFill>
                  <a:srgbClr val="667684"/>
                </a:solidFill>
                <a:latin typeface="Arial"/>
                <a:ea typeface="PingFang SC"/>
              </a:rPr>
              <a:t>Langfuse：LLM 调用观测与评估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974336"/>
            <a:ext cx="5806440" cy="932688"/>
          </a:xfrm>
          <a:prstGeom prst="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02351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0E2233"/>
                </a:solidFill>
                <a:latin typeface="Courier New"/>
                <a:ea typeface="PingFang SC"/>
              </a:rPr>
              <a:t>+ docker-compose-graphiti.yml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77255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50" b="0">
                <a:solidFill>
                  <a:srgbClr val="667684"/>
                </a:solidFill>
                <a:latin typeface="Arial"/>
                <a:ea typeface="PingFang SC"/>
              </a:rPr>
              <a:t>Neo4j + Graphiti：知识图谱长期记忆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1737360"/>
            <a:ext cx="4892040" cy="4041648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93408" y="1847088"/>
            <a:ext cx="82296" cy="3822191"/>
          </a:xfrm>
          <a:prstGeom prst="rect">
            <a:avLst/>
          </a:prstGeom>
          <a:solidFill>
            <a:srgbClr val="F26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920240"/>
            <a:ext cx="43891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700" b="1">
                <a:solidFill>
                  <a:srgbClr val="0E2233"/>
                </a:solidFill>
                <a:latin typeface="Arial"/>
                <a:ea typeface="PingFang SC"/>
              </a:rPr>
              <a:t>上线前基线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450592"/>
            <a:ext cx="4434840" cy="320040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· 默认仅绑定 127.0.0.1，入口 https://localhost:8443</a:t>
            </a:r>
          </a:p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· 必须改：COOKIE_SIGNING_SALT、PUBLIC_URL、CORS_ORIGINS</a:t>
            </a:r>
          </a:p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· 对外提供服务用正式 TLS，关闭 Swagger / Playground</a:t>
            </a:r>
          </a:p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· 硬件：4C/8G 起，16G+ 推荐，磁盘 20G+ 且持续增长</a:t>
            </a:r>
          </a:p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· 依赖 Docker Engine + Compose v2，需挂载 docker.sock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1">
                <a:solidFill>
                  <a:srgbClr val="3BD48A"/>
                </a:solidFill>
                <a:latin typeface="Arial"/>
                <a:ea typeface="PingFang SC"/>
              </a:rPr>
              <a:t>DELIVERY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88136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900" b="1">
                <a:solidFill>
                  <a:srgbClr val="0E2233"/>
                </a:solidFill>
                <a:latin typeface="Arial"/>
                <a:ea typeface="PingFang SC"/>
              </a:rPr>
              <a:t>本次交付：文档与版本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5486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PentAGI 项目演示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55664"/>
            <a:ext cx="12801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r"/>
            <a:r>
              <a:rPr sz="1000" b="0">
                <a:solidFill>
                  <a:srgbClr val="667684"/>
                </a:solidFill>
                <a:latin typeface="Arial"/>
                <a:ea typeface="PingFang SC"/>
              </a:rPr>
              <a:t>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5486400" cy="566928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0E2233"/>
                </a:solidFill>
                <a:latin typeface="Arial"/>
                <a:ea typeface="PingFang SC"/>
              </a:rPr>
              <a:t>已入库  main · f0e6a91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5120640" cy="23774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docs/01 功能清单与操作手册 · 160 行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docs/02 部署与运维文档 · 238 行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25 处 file:/// 绝对链接改写为仓库相对路径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推送前逐条校验链接在仓库内均可解析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276088" cy="566928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276088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仅本地  不进公开仓库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50592"/>
            <a:ext cx="4937760" cy="23774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docs/03 渗透测试报告 · 224 行 · 8 条 finding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最高等级 Critical，含配置与代码定位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针对活跃的上游项目：公开即等于漏洞披露</a:t>
            </a:r>
          </a:p>
          <a:p>
            <a:pPr algn="l"/>
            <a:r>
              <a:rPr sz="1400" b="0">
                <a:solidFill>
                  <a:srgbClr val="16202A"/>
                </a:solidFill>
                <a:latin typeface="Arial"/>
                <a:ea typeface="PingFang SC"/>
              </a:rPr>
              <a:t>结论：本次推送按约定剔除，明细留在本地文档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074920"/>
            <a:ext cx="11018520" cy="1051560"/>
          </a:xfrm>
          <a:prstGeom prst="roundRect">
            <a:avLst/>
          </a:prstGeom>
          <a:solidFill>
            <a:srgbClr val="F2F5F7"/>
          </a:solidFill>
          <a:ln w="9525">
            <a:solidFill>
              <a:srgbClr val="D8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21808"/>
            <a:ext cx="10515600" cy="777240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镜像关系：onebody/pentagi 是 vxcontrol/pentagi 的 MIT 快照，LICENSE / NOTICE / EULA 均随仓保留</a:t>
            </a:r>
          </a:p>
          <a:p>
            <a:pPr algn="l"/>
            <a:r>
              <a:rPr sz="1350" b="0">
                <a:solidFill>
                  <a:srgbClr val="16202A"/>
                </a:solidFill>
                <a:latin typeface="Arial"/>
                <a:ea typeface="PingFang SC"/>
              </a:rPr>
              <a:t>本次提交只新增 2 个文件，未触碰任何上游代码；与远端 HEAD 逐文件比对无差异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  <a:ea typeface="PingFang SC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200" b="1">
                <a:solidFill>
                  <a:srgbClr val="3BD48A"/>
                </a:solidFill>
                <a:latin typeface="Courier New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PingFang SC"/>
              </a:rPr>
              <a:t>把本地目录变成正式工作副本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377439"/>
            <a:ext cx="45720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A8C6DA"/>
                </a:solidFill>
                <a:latin typeface="Arial"/>
                <a:ea typeface="PingFang SC"/>
              </a:rPr>
              <a:t>当前快照无 .git，且 .gitignore / .env.example / .github 等点文件在拷贝时丢失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02152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200" b="1">
                <a:solidFill>
                  <a:srgbClr val="3BD48A"/>
                </a:solidFill>
                <a:latin typeface="Courier New"/>
                <a:ea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02152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PingFang SC"/>
              </a:rPr>
              <a:t>为 docs/03 建立长期隔离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547872"/>
            <a:ext cx="45720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A8C6DA"/>
                </a:solidFill>
                <a:latin typeface="Arial"/>
                <a:ea typeface="PingFang SC"/>
              </a:rPr>
              <a:t>临时 exclude 随 scratch clone 清理失效，改为持久忽略或独立私有仓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72584"/>
            <a:ext cx="8229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2200" b="1">
                <a:solidFill>
                  <a:srgbClr val="3BD48A"/>
                </a:solidFill>
                <a:latin typeface="Courier New"/>
                <a:ea typeface="PingFang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672584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  <a:ea typeface="PingFang SC"/>
              </a:rPr>
              <a:t>沉淀 Provider 横评与模板库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718304"/>
            <a:ext cx="45720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350" b="0">
                <a:solidFill>
                  <a:srgbClr val="A8C6DA"/>
                </a:solidFill>
                <a:latin typeface="Arial"/>
                <a:ea typeface="PingFang SC"/>
              </a:rPr>
              <a:t>把 19 份报告扩展成新模型对比基线，产出可复用的 Flow 模板与提示词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A8C6DA"/>
                </a:solidFill>
                <a:latin typeface="Courier New"/>
                <a:ea typeface="PingFang SC"/>
              </a:rPr>
              <a:t>github.com/onebody/pentagi   ·   main @ f0e6a91   ·   2026-10-14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